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Merriweather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0377958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0377958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22d86e2a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22d86e2a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00377958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00377958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00377958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00377958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Hay que reordenarlo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235934e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235934e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00377958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00377958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235934e0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235934e0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0377958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00377958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235934e0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235934e0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235934e0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235934e0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235934e0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235934e0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235934e0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235934e0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235934e0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235934e0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235934e0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235934e0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24081d81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24081d81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24081d8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24081d8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Pondria la foto de las celulas con el cambio en el organigrama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24081d8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24081d8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24081d81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24081d81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003779588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003779588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Trabajo de campo - 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marR="28429" rtl="0" algn="l">
              <a:lnSpc>
                <a:spcPct val="150000"/>
              </a:lnSpc>
              <a:spcBef>
                <a:spcPts val="298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91.39 Estructura y Procesos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66913" rtl="0" algn="l">
              <a:lnSpc>
                <a:spcPct val="150000"/>
              </a:lnSpc>
              <a:spcBef>
                <a:spcPts val="298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Organizacionales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Grupo 1</a:t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825" y="463426"/>
            <a:ext cx="4299123" cy="98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Historia de Oncompetence - Origen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11725" y="1959450"/>
            <a:ext cx="8624100" cy="20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Fundada en 2007 en Chile.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orienta en el modelo de software factory.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Logró consolidar más de diez proyectos activos.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Historia de Oncompetence - </a:t>
            </a:r>
            <a:r>
              <a:rPr lang="es-419"/>
              <a:t>Actualidad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11725" y="1676725"/>
            <a:ext cx="88323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Presencia en Chile, Argentina y Perú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Filial de gestión financiera y administrativa en Estados Unidos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Equipo de 32 colaboradores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Consultoría, gestión de proyectos y capacitación especializada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Organigrama original</a:t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4625"/>
            <a:ext cx="9144000" cy="396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Organigrama reformulado</a:t>
            </a:r>
            <a:endParaRPr/>
          </a:p>
        </p:txBody>
      </p:sp>
      <p:pic>
        <p:nvPicPr>
          <p:cNvPr id="90" name="Google Shape;90;p17" title="organigrama - Página 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7225"/>
            <a:ext cx="9144003" cy="3495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" name="Google Shape;96;p18"/>
          <p:cNvSpPr txBox="1"/>
          <p:nvPr/>
        </p:nvSpPr>
        <p:spPr>
          <a:xfrm>
            <a:off x="4180300" y="463900"/>
            <a:ext cx="1593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18" title="Captura de pantalla 2025-06-23 1026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04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Jaques</a:t>
            </a:r>
            <a:endParaRPr/>
          </a:p>
        </p:txBody>
      </p:sp>
      <p:pic>
        <p:nvPicPr>
          <p:cNvPr id="103" name="Google Shape;103;p19" title="organigrama - Página 1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64225"/>
            <a:ext cx="9144003" cy="23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0" title="Captura de pantalla 2025-06-23 102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19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Mintzberg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08825" y="1422750"/>
            <a:ext cx="33333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-419" sz="1900">
                <a:solidFill>
                  <a:schemeClr val="lt1"/>
                </a:solidFill>
              </a:rPr>
              <a:t>E</a:t>
            </a:r>
            <a:r>
              <a:rPr lang="es-419" sz="1900">
                <a:solidFill>
                  <a:schemeClr val="lt1"/>
                </a:solidFill>
              </a:rPr>
              <a:t>structura simple potenciada por elementos de adhocracia operativa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Configuración híbrida que permite mantener control y coherencia, innovación y coordinación por ajuste mutuo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7715" l="0" r="0" t="0"/>
          <a:stretch/>
        </p:blipFill>
        <p:spPr>
          <a:xfrm>
            <a:off x="4666875" y="0"/>
            <a:ext cx="3625925" cy="501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Células de trabajo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206275" y="1652325"/>
            <a:ext cx="33384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Funcionan con autonomía técnica y lógica propia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Cada célula se especializa en un tipo de servicio o producto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También impulsan proyectos de I+D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3" name="Google Shape;123;p22" title="organigrama - Página 1 (6).png"/>
          <p:cNvPicPr preferRelativeResize="0"/>
          <p:nvPr/>
        </p:nvPicPr>
        <p:blipFill rotWithShape="1">
          <a:blip r:embed="rId3">
            <a:alphaModFix/>
          </a:blip>
          <a:srcRect b="0" l="0" r="34815" t="0"/>
          <a:stretch/>
        </p:blipFill>
        <p:spPr>
          <a:xfrm>
            <a:off x="4306474" y="372100"/>
            <a:ext cx="4247449" cy="19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 title="organigrama - Página 1 (6).png"/>
          <p:cNvPicPr preferRelativeResize="0"/>
          <p:nvPr/>
        </p:nvPicPr>
        <p:blipFill rotWithShape="1">
          <a:blip r:embed="rId3">
            <a:alphaModFix/>
          </a:blip>
          <a:srcRect b="0" l="65351" r="0" t="0"/>
          <a:stretch/>
        </p:blipFill>
        <p:spPr>
          <a:xfrm>
            <a:off x="5301372" y="2849750"/>
            <a:ext cx="2257674" cy="192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Célula</a:t>
            </a:r>
            <a:r>
              <a:rPr lang="es-419"/>
              <a:t> 1 - OnPartner</a:t>
            </a:r>
            <a:endParaRPr/>
          </a:p>
        </p:txBody>
      </p:sp>
      <p:sp>
        <p:nvSpPr>
          <p:cNvPr id="130" name="Google Shape;130;p23"/>
          <p:cNvSpPr txBox="1"/>
          <p:nvPr>
            <p:ph idx="1" type="subTitle"/>
          </p:nvPr>
        </p:nvSpPr>
        <p:spPr>
          <a:xfrm>
            <a:off x="311300" y="1334475"/>
            <a:ext cx="3812100" cy="4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s-419" sz="1800">
                <a:solidFill>
                  <a:schemeClr val="lt1"/>
                </a:solidFill>
              </a:rPr>
              <a:t>Planificación, control, gestión y financiamiento de proyectos</a:t>
            </a:r>
            <a:endParaRPr b="1"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Se especializa en financiar proyectos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Enfoque de I+D orientado a la búsqueda constante de nuevas formas de financiamiento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31" name="Google Shape;131;p23" title="Copia de organigram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375" y="586662"/>
            <a:ext cx="3578826" cy="353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Célula 2 – Software Factory</a:t>
            </a:r>
            <a:endParaRPr/>
          </a:p>
        </p:txBody>
      </p:sp>
      <p:sp>
        <p:nvSpPr>
          <p:cNvPr id="137" name="Google Shape;137;p24"/>
          <p:cNvSpPr txBox="1"/>
          <p:nvPr>
            <p:ph idx="1" type="subTitle"/>
          </p:nvPr>
        </p:nvSpPr>
        <p:spPr>
          <a:xfrm>
            <a:off x="311300" y="1601700"/>
            <a:ext cx="38232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25">
              <a:solidFill>
                <a:schemeClr val="lt1"/>
              </a:solidFill>
            </a:endParaRPr>
          </a:p>
          <a:p>
            <a:pPr indent="-3444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5"/>
              <a:buChar char="●"/>
            </a:pPr>
            <a:r>
              <a:rPr b="1" lang="es-419" sz="1825">
                <a:solidFill>
                  <a:schemeClr val="lt1"/>
                </a:solidFill>
              </a:rPr>
              <a:t>Desarrollo de software</a:t>
            </a:r>
            <a:endParaRPr b="1" sz="182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25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25">
              <a:solidFill>
                <a:schemeClr val="lt1"/>
              </a:solidFill>
            </a:endParaRPr>
          </a:p>
          <a:p>
            <a:pPr indent="-3444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5"/>
              <a:buChar char="●"/>
            </a:pPr>
            <a:r>
              <a:rPr lang="es-419" sz="1825">
                <a:solidFill>
                  <a:schemeClr val="lt1"/>
                </a:solidFill>
              </a:rPr>
              <a:t>Destacan por su capacidad para entregar productos a medida</a:t>
            </a:r>
            <a:endParaRPr sz="182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5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5">
              <a:solidFill>
                <a:schemeClr val="lt1"/>
              </a:solidFill>
            </a:endParaRPr>
          </a:p>
          <a:p>
            <a:pPr indent="-3444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5"/>
              <a:buChar char="●"/>
            </a:pPr>
            <a:r>
              <a:rPr lang="es-419" sz="1825">
                <a:solidFill>
                  <a:schemeClr val="lt1"/>
                </a:solidFill>
              </a:rPr>
              <a:t>Orienta su trabajo al desarrollo de soluciones desde cero</a:t>
            </a:r>
            <a:endParaRPr sz="1825">
              <a:solidFill>
                <a:schemeClr val="lt1"/>
              </a:solidFill>
            </a:endParaRPr>
          </a:p>
        </p:txBody>
      </p:sp>
      <p:pic>
        <p:nvPicPr>
          <p:cNvPr id="138" name="Google Shape;138;p24" title="Copia de organigrama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100" y="856450"/>
            <a:ext cx="3933825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Célula 3 – ERP</a:t>
            </a:r>
            <a:endParaRPr/>
          </a:p>
        </p:txBody>
      </p:sp>
      <p:sp>
        <p:nvSpPr>
          <p:cNvPr id="144" name="Google Shape;144;p25"/>
          <p:cNvSpPr txBox="1"/>
          <p:nvPr>
            <p:ph idx="1" type="subTitle"/>
          </p:nvPr>
        </p:nvSpPr>
        <p:spPr>
          <a:xfrm>
            <a:off x="311300" y="1369275"/>
            <a:ext cx="3953400" cy="32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s-419" sz="1800">
                <a:solidFill>
                  <a:schemeClr val="lt1"/>
                </a:solidFill>
              </a:rPr>
              <a:t>Implementación de software de terceros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No desarrolla productos desde cero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Puente técnico entre el fabricante y el cliente final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Detección de necesidades no cubiertas por el sistema base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45" name="Google Shape;145;p25" title="Copia de organigrama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238" y="856450"/>
            <a:ext cx="4219575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Fabricantes</a:t>
            </a:r>
            <a:endParaRPr/>
          </a:p>
        </p:txBody>
      </p:sp>
      <p:sp>
        <p:nvSpPr>
          <p:cNvPr id="151" name="Google Shape;151;p26"/>
          <p:cNvSpPr txBox="1"/>
          <p:nvPr/>
        </p:nvSpPr>
        <p:spPr>
          <a:xfrm>
            <a:off x="311725" y="1875250"/>
            <a:ext cx="8624100" cy="20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Proveen plataformas para implementar soluciones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Actúan como fuente de nuevos clientes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Focal point</a:t>
            </a: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311725" y="1918725"/>
            <a:ext cx="8624100" cy="20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Punto de contacto entre cliente y equipo de proyecto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Requiere entendimiento comercial y funcional del negocio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Participa en propuestas y licitaciones técnicas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539725"/>
            <a:ext cx="8520600" cy="3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500"/>
              <a:t>Hipótesis</a:t>
            </a:r>
            <a:endParaRPr b="1" sz="4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/>
              <a:t>Incorporación de IA en la operación y la oferta de productos y servicios a sus clientes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4724125" y="1505700"/>
            <a:ext cx="4108200" cy="1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900" u="sng"/>
              <a:t>Célula 3</a:t>
            </a:r>
            <a:r>
              <a:rPr lang="es-419" sz="1900"/>
              <a:t> - Se ofrecerá no solo el ERP tradicional, sino una solución potenciada con IA</a:t>
            </a:r>
            <a:endParaRPr sz="1900"/>
          </a:p>
        </p:txBody>
      </p:sp>
      <p:sp>
        <p:nvSpPr>
          <p:cNvPr id="169" name="Google Shape;169;p29"/>
          <p:cNvSpPr txBox="1"/>
          <p:nvPr>
            <p:ph idx="2" type="body"/>
          </p:nvPr>
        </p:nvSpPr>
        <p:spPr>
          <a:xfrm>
            <a:off x="311725" y="1505700"/>
            <a:ext cx="4154100" cy="1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900" u="sng"/>
              <a:t>Célula 1</a:t>
            </a:r>
            <a:r>
              <a:rPr lang="es-419" sz="1900"/>
              <a:t> - Comenzará a ofrecer un simulador inteligente de viabilidad de proyectos</a:t>
            </a:r>
            <a:endParaRPr sz="1900"/>
          </a:p>
        </p:txBody>
      </p:sp>
      <p:pic>
        <p:nvPicPr>
          <p:cNvPr id="170" name="Google Shape;170;p29" title="organigrama - Página 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850" y="2788200"/>
            <a:ext cx="7812355" cy="213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Medidas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25" y="1538300"/>
            <a:ext cx="8520600" cy="3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sz="1900"/>
              <a:t>Política interna de uso responsable de IA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sz="1900"/>
              <a:t>Capacitación obligatoria para todo el personal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sz="1900"/>
              <a:t>Supervisión legal obligatoria para cada desarrollo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sz="1900"/>
              <a:t>Incorporación de perfiles técnicos especializados (Analistas IA)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sz="1900"/>
              <a:t>Protocolo de ética y explicabilidad</a:t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700"/>
              <a:t>Conclusión</a:t>
            </a:r>
            <a:endParaRPr sz="3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/>
        </p:nvSpPr>
        <p:spPr>
          <a:xfrm>
            <a:off x="-14425" y="32225"/>
            <a:ext cx="9144000" cy="5111400"/>
          </a:xfrm>
          <a:prstGeom prst="rect">
            <a:avLst/>
          </a:prstGeom>
          <a:noFill/>
          <a:ln cap="flat" cmpd="sng" w="228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Muchas </a:t>
            </a:r>
            <a:endParaRPr sz="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gracias</a:t>
            </a:r>
            <a:endParaRPr sz="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